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2"/>
  </p:notesMasterIdLst>
  <p:sldIdLst>
    <p:sldId id="256" r:id="rId4"/>
    <p:sldId id="686" r:id="rId5"/>
    <p:sldId id="873" r:id="rId6"/>
    <p:sldId id="768" r:id="rId7"/>
    <p:sldId id="689" r:id="rId8"/>
    <p:sldId id="693" r:id="rId9"/>
    <p:sldId id="691" r:id="rId10"/>
    <p:sldId id="6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9D3C"/>
    <a:srgbClr val="FFBA3B"/>
    <a:srgbClr val="0000FF"/>
    <a:srgbClr val="D52324"/>
    <a:srgbClr val="299F29"/>
    <a:srgbClr val="FF7E0D"/>
    <a:srgbClr val="FF0000"/>
    <a:srgbClr val="FF7F0F"/>
    <a:srgbClr val="279E28"/>
    <a:srgbClr val="1E7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809" autoAdjust="0"/>
  </p:normalViewPr>
  <p:slideViewPr>
    <p:cSldViewPr snapToGrid="0">
      <p:cViewPr varScale="1">
        <p:scale>
          <a:sx n="66" d="100"/>
          <a:sy n="66" d="100"/>
        </p:scale>
        <p:origin x="10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2C8CA-A521-4254-86A7-6548A9107C3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013-C680-4F1D-A725-B09F536C3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7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 -&gt; Methods developed general enough for wide geoscientific audience. Two-way interaction will also be outline </a:t>
            </a:r>
            <a:r>
              <a:rPr lang="en-US"/>
              <a:t>of today’s talk.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F2F013-C680-4F1D-A725-B09F536C38B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37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51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013-C680-4F1D-A725-B09F536C38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52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9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5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5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FEA415F3-A1E6-4584-B621-276122F46196}" type="datetimeFigureOut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02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FEA415F3-A1E6-4584-B621-276122F46196}" type="datetimeFigureOut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63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8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02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5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22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60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48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21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15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9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9709A697-9556-4636-ADD7-C14036D27B5A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7C9A0B1-3A81-4EE2-BC0F-9246E436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8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2900"/>
            <a:ext cx="12192000" cy="1325563"/>
          </a:xfrm>
        </p:spPr>
        <p:txBody>
          <a:bodyPr/>
          <a:lstStyle>
            <a:lvl1pPr algn="ctr"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58463"/>
            <a:ext cx="12192000" cy="3818500"/>
          </a:xfrm>
        </p:spPr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0F6E66B7-9B35-4B7B-9932-B0DB6C7780B0}" type="datetime1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95F618E1-985E-48A0-8864-543C934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30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4678-864D-4970-8E71-CC0335BFB9F7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5630459C-811D-4DC4-9E77-A40A3737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0"/>
            <a:ext cx="2743200" cy="365125"/>
          </a:xfrm>
        </p:spPr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99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68195"/>
            <a:ext cx="5181600" cy="380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3B7-1D8F-458E-93B0-CB00AB025C6C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87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0147"/>
            <a:ext cx="10515600" cy="1041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1" y="209806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48168"/>
            <a:ext cx="5157787" cy="32414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98061"/>
            <a:ext cx="5183188" cy="8501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948167"/>
            <a:ext cx="5183188" cy="3241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5CCD-FD48-4957-97BB-996D1D1F5A92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662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E08-FE4F-4BA0-9A4F-ABAA1AAD8933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717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070D-6507-42AD-8A7A-A1A51651946D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3740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B3DE-6B60-4982-9E73-506458BA3016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1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C7062-7E19-4F5A-9C80-6631C3BA90C9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58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C72-5A6E-4C5D-A140-0F430B42233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008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FC8F-4F6E-4D8C-B539-DD061C8756D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9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Introduction to Python (Week 1, Fall 2026)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62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32556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15F3-A1E6-4584-B621-276122F4619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86A01-FA10-4E06-92C7-92734750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7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" y="104263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2368195"/>
            <a:ext cx="12192000" cy="3308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9409E-6722-4D1D-BF68-530DA15E46E8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5686A01-FA10-4E06-92C7-92734750F4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6E69C-EA8C-4B37-8F1F-BD0C3836FBCC}"/>
              </a:ext>
            </a:extLst>
          </p:cNvPr>
          <p:cNvSpPr/>
          <p:nvPr userDrawn="1"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DB37FD6-FFD6-4A3C-9780-6C460EED70A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649FCEFC-7013-4222-9013-007F01EDB2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F48FB-FA9B-4BA8-9E58-F2CC58B0160A}"/>
              </a:ext>
            </a:extLst>
          </p:cNvPr>
          <p:cNvSpPr txBox="1"/>
          <p:nvPr userDrawn="1"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Introduction to Python (Week 1, Fall 2025)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73B6DC2F-9988-447F-A7C3-709BC237347B}"/>
              </a:ext>
            </a:extLst>
          </p:cNvPr>
          <p:cNvSpPr txBox="1">
            <a:spLocks/>
          </p:cNvSpPr>
          <p:nvPr userDrawn="1"/>
        </p:nvSpPr>
        <p:spPr>
          <a:xfrm>
            <a:off x="4724400" y="-1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744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jpeg"/><Relationship Id="rId11" Type="http://schemas.openxmlformats.org/officeDocument/2006/relationships/image" Target="../media/image12.png"/><Relationship Id="rId5" Type="http://schemas.openxmlformats.org/officeDocument/2006/relationships/image" Target="../media/image7.jpe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AD2-F75E-4189-BE7C-285EBDEEB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1029093"/>
            <a:ext cx="12192000" cy="1527043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 to “Introduction to Scientific Programming with Python”!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6C7CF-C9AD-402D-B1D3-EA17ED29E245}"/>
              </a:ext>
            </a:extLst>
          </p:cNvPr>
          <p:cNvSpPr/>
          <p:nvPr/>
        </p:nvSpPr>
        <p:spPr>
          <a:xfrm>
            <a:off x="0" y="-1"/>
            <a:ext cx="12192000" cy="1018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0C51A0F-DE65-4DD8-AF36-9706BB26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11197" cy="1018799"/>
          </a:xfrm>
          <a:prstGeom prst="rect">
            <a:avLst/>
          </a:prstGeom>
        </p:spPr>
      </p:pic>
      <p:pic>
        <p:nvPicPr>
          <p:cNvPr id="12" name="Picture 11" descr="Icon&#10;&#10;Description automatically generated with low confidence">
            <a:extLst>
              <a:ext uri="{FF2B5EF4-FFF2-40B4-BE49-F238E27FC236}">
                <a16:creationId xmlns:a16="http://schemas.microsoft.com/office/drawing/2014/main" id="{9C72AAB3-16B0-469E-961C-93A20A58C5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7044" b="27229"/>
          <a:stretch/>
        </p:blipFill>
        <p:spPr>
          <a:xfrm>
            <a:off x="9810109" y="139405"/>
            <a:ext cx="2381891" cy="7399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F0208-B091-4A8E-B00F-31B1AEF44E7D}"/>
              </a:ext>
            </a:extLst>
          </p:cNvPr>
          <p:cNvSpPr txBox="1"/>
          <p:nvPr/>
        </p:nvSpPr>
        <p:spPr>
          <a:xfrm>
            <a:off x="-2" y="37143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Introduction to Python (Week 1, Fall 2026)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D8FF54A-18CE-4A3A-B2EA-52A0A2C3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-1944"/>
            <a:ext cx="2743200" cy="365125"/>
          </a:xfrm>
        </p:spPr>
        <p:txBody>
          <a:bodyPr/>
          <a:lstStyle/>
          <a:p>
            <a:pPr algn="ctr"/>
            <a:fld id="{A5686A01-FA10-4E06-92C7-92734750F4C6}" type="slidenum">
              <a:rPr lang="en-US" smtClean="0"/>
              <a:pPr algn="ctr"/>
              <a:t>1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92C2EB-E0A2-40A0-904A-8C0CA0EB1EA2}"/>
              </a:ext>
            </a:extLst>
          </p:cNvPr>
          <p:cNvSpPr txBox="1"/>
          <p:nvPr/>
        </p:nvSpPr>
        <p:spPr>
          <a:xfrm>
            <a:off x="0" y="3072348"/>
            <a:ext cx="121920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By the end of this four-week course, you will know: </a:t>
            </a:r>
          </a:p>
          <a:p>
            <a:endParaRPr lang="en-US" sz="3000" dirty="0"/>
          </a:p>
          <a:p>
            <a:pPr marL="342900" indent="-342900">
              <a:buAutoNum type="arabicPeriod"/>
            </a:pPr>
            <a:r>
              <a:rPr lang="en-US" sz="3000" dirty="0"/>
              <a:t>Which Python libraries are most suitable for your application of interest and how to quickly look up documentation, </a:t>
            </a:r>
          </a:p>
          <a:p>
            <a:pPr marL="342900" indent="-342900">
              <a:buAutoNum type="arabicPeriod"/>
            </a:pPr>
            <a:endParaRPr lang="en-US" sz="3000" dirty="0"/>
          </a:p>
          <a:p>
            <a:pPr marL="342900" indent="-342900">
              <a:buAutoNum type="arabicPeriod"/>
            </a:pPr>
            <a:r>
              <a:rPr lang="en-US" sz="3000" dirty="0"/>
              <a:t>How to handle data in multiple formats (from text files to gridded spatial data via time series), manipulate them mathematically/statistically, and visualize them efficiently for scientific analysis and communication.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2E8C8-3D26-4F6C-9B56-98BF733B6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58" y="2078341"/>
            <a:ext cx="1760992" cy="180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0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E10A-3459-4F37-B2D1-3F864BD5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45572"/>
            <a:ext cx="10363200" cy="1876018"/>
          </a:xfrm>
        </p:spPr>
        <p:txBody>
          <a:bodyPr/>
          <a:lstStyle/>
          <a:p>
            <a:r>
              <a:rPr lang="en-US" dirty="0"/>
              <a:t>Min 15-30: Introductions, Moodle, and Syllabus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D82DC-BEE3-447B-A9C9-79E77D3E5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14210"/>
            <a:ext cx="12192000" cy="1655762"/>
          </a:xfrm>
        </p:spPr>
        <p:txBody>
          <a:bodyPr>
            <a:normAutofit/>
          </a:bodyPr>
          <a:lstStyle/>
          <a:p>
            <a:r>
              <a:rPr lang="en-US" dirty="0"/>
              <a:t>1) Instructor &amp; TA</a:t>
            </a:r>
          </a:p>
          <a:p>
            <a:r>
              <a:rPr lang="en-US" dirty="0"/>
              <a:t>2) Open the course’s Moodle space: https://moodle.unil.ch/course/view.php?id=37057</a:t>
            </a:r>
          </a:p>
          <a:p>
            <a:r>
              <a:rPr lang="en-US" dirty="0"/>
              <a:t>3) Download the latest version of the syllabus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D8F-8562-4A80-A9B3-5D34DC99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BA777-1F80-BA3F-9ABA-1FC32731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" y="4487100"/>
            <a:ext cx="12171852" cy="38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8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E3454CA-20DA-FAE8-D9D8-FC7DD0AAA391}"/>
              </a:ext>
            </a:extLst>
          </p:cNvPr>
          <p:cNvSpPr/>
          <p:nvPr/>
        </p:nvSpPr>
        <p:spPr>
          <a:xfrm>
            <a:off x="-126513" y="0"/>
            <a:ext cx="7059748" cy="6858000"/>
          </a:xfrm>
          <a:prstGeom prst="rect">
            <a:avLst/>
          </a:prstGeom>
          <a:solidFill>
            <a:srgbClr val="173E70"/>
          </a:solidFill>
          <a:ln>
            <a:solidFill>
              <a:srgbClr val="173E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620E711-81AE-345C-0E7B-A339A1AC632E}"/>
              </a:ext>
            </a:extLst>
          </p:cNvPr>
          <p:cNvSpPr txBox="1">
            <a:spLocks/>
          </p:cNvSpPr>
          <p:nvPr/>
        </p:nvSpPr>
        <p:spPr>
          <a:xfrm>
            <a:off x="-35118" y="1434123"/>
            <a:ext cx="6067457" cy="71112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0CCDC"/>
                </a:solidFill>
                <a:effectLst/>
                <a:uLnTx/>
                <a:uFillTx/>
                <a:latin typeface="CMU Sans Serif"/>
                <a:ea typeface="+mj-ea"/>
                <a:cs typeface="+mj-cs"/>
              </a:rPr>
              <a:t>Atmospheric Physics + AI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B0CCDC"/>
              </a:solidFill>
              <a:effectLst/>
              <a:uLnTx/>
              <a:uFillTx/>
              <a:latin typeface="CMU Sans Serif"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72F1A-FD31-7422-5306-AC53B139FBFF}"/>
              </a:ext>
            </a:extLst>
          </p:cNvPr>
          <p:cNvSpPr/>
          <p:nvPr/>
        </p:nvSpPr>
        <p:spPr>
          <a:xfrm>
            <a:off x="-24324" y="6532652"/>
            <a:ext cx="12224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1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Image Sources</a:t>
            </a:r>
            <a:r>
              <a:rPr kumimoji="0" lang="de-DE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: Adhithya Sandeep, 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John Lund, Cal. Dep. Wat. Res.</a:t>
            </a:r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8C24C2E5-0E06-CF7C-27CA-759F70B4EE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384"/>
          <a:stretch/>
        </p:blipFill>
        <p:spPr>
          <a:xfrm>
            <a:off x="6023641" y="-1"/>
            <a:ext cx="6875495" cy="690198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C984C77-16F0-9586-EB3C-B4FEE4B6CF57}"/>
              </a:ext>
            </a:extLst>
          </p:cNvPr>
          <p:cNvGrpSpPr/>
          <p:nvPr/>
        </p:nvGrpSpPr>
        <p:grpSpPr>
          <a:xfrm>
            <a:off x="8672822" y="4862141"/>
            <a:ext cx="3427741" cy="1828800"/>
            <a:chOff x="5892860" y="-329144"/>
            <a:chExt cx="6089904" cy="3041138"/>
          </a:xfrm>
        </p:grpSpPr>
        <p:pic>
          <p:nvPicPr>
            <p:cNvPr id="6" name="Picture 5" descr="A mountain with smoke coming out of it&#10;&#10;Description automatically generated">
              <a:extLst>
                <a:ext uri="{FF2B5EF4-FFF2-40B4-BE49-F238E27FC236}">
                  <a16:creationId xmlns:a16="http://schemas.microsoft.com/office/drawing/2014/main" id="{1B8022C2-9B85-4B33-1923-CAB954648C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0" b="32991"/>
            <a:stretch/>
          </p:blipFill>
          <p:spPr>
            <a:xfrm>
              <a:off x="5936075" y="-329144"/>
              <a:ext cx="6046689" cy="3041138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chemeClr val="bg1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1198DF-3E84-8115-17AB-4A04054D04BB}"/>
                </a:ext>
              </a:extLst>
            </p:cNvPr>
            <p:cNvSpPr txBox="1"/>
            <p:nvPr/>
          </p:nvSpPr>
          <p:spPr>
            <a:xfrm>
              <a:off x="5892860" y="-299250"/>
              <a:ext cx="6089904" cy="1381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Environmental 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Data Science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383E813-DCC9-BDF0-7D6E-CB2D0411AE23}"/>
              </a:ext>
            </a:extLst>
          </p:cNvPr>
          <p:cNvGrpSpPr/>
          <p:nvPr/>
        </p:nvGrpSpPr>
        <p:grpSpPr>
          <a:xfrm>
            <a:off x="89478" y="4862141"/>
            <a:ext cx="3420481" cy="1856718"/>
            <a:chOff x="1504979" y="-1193963"/>
            <a:chExt cx="4946115" cy="2260530"/>
          </a:xfrm>
        </p:grpSpPr>
        <p:pic>
          <p:nvPicPr>
            <p:cNvPr id="3" name="Picture 2" descr="Clouds in a blue cloudy sky&#10;&#10;Description automatically generated">
              <a:extLst>
                <a:ext uri="{FF2B5EF4-FFF2-40B4-BE49-F238E27FC236}">
                  <a16:creationId xmlns:a16="http://schemas.microsoft.com/office/drawing/2014/main" id="{1C7F1C11-6489-3C87-1639-3A9DB67C0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153" t="25734" r="1598" b="27830"/>
            <a:stretch/>
          </p:blipFill>
          <p:spPr>
            <a:xfrm>
              <a:off x="1529654" y="-1193963"/>
              <a:ext cx="4921440" cy="2227905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chemeClr val="bg1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D519001-0173-E448-223C-AEB5402B148B}"/>
                </a:ext>
              </a:extLst>
            </p:cNvPr>
            <p:cNvSpPr txBox="1"/>
            <p:nvPr/>
          </p:nvSpPr>
          <p:spPr>
            <a:xfrm>
              <a:off x="1504979" y="44026"/>
              <a:ext cx="4946115" cy="10225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Earth System Modeling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(Parameterization)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C54582-5DF6-EEE3-90A6-CF1C9F833BDC}"/>
              </a:ext>
            </a:extLst>
          </p:cNvPr>
          <p:cNvGrpSpPr/>
          <p:nvPr/>
        </p:nvGrpSpPr>
        <p:grpSpPr>
          <a:xfrm>
            <a:off x="4588611" y="4862141"/>
            <a:ext cx="3403417" cy="1828800"/>
            <a:chOff x="107308" y="1080370"/>
            <a:chExt cx="3403417" cy="1828800"/>
          </a:xfrm>
        </p:grpSpPr>
        <p:pic>
          <p:nvPicPr>
            <p:cNvPr id="10" name="Picture 9" descr="A view of the earth from space&#10;&#10;Description automatically generated with medium confidence">
              <a:extLst>
                <a:ext uri="{FF2B5EF4-FFF2-40B4-BE49-F238E27FC236}">
                  <a16:creationId xmlns:a16="http://schemas.microsoft.com/office/drawing/2014/main" id="{D9FBB202-BFE3-25FE-DA42-D39E7ED0D3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307"/>
            <a:stretch/>
          </p:blipFill>
          <p:spPr>
            <a:xfrm>
              <a:off x="107308" y="1080370"/>
              <a:ext cx="3403417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chemeClr val="bg1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243648-1613-D666-F1EE-CAE165CB30FC}"/>
                </a:ext>
              </a:extLst>
            </p:cNvPr>
            <p:cNvSpPr txBox="1"/>
            <p:nvPr/>
          </p:nvSpPr>
          <p:spPr>
            <a:xfrm>
              <a:off x="141055" y="1106861"/>
              <a:ext cx="332119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Extreme Weather Events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Forecasting, 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Post-Processing,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MU Sans Serif"/>
                  <a:ea typeface="+mn-ea"/>
                  <a:cs typeface="+mn-cs"/>
                </a:rPr>
                <a:t>Downscaling</a:t>
              </a:r>
            </a:p>
          </p:txBody>
        </p:sp>
      </p:grp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05E30B53-C432-DD16-DFDD-E72BE7D40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87" y="69726"/>
            <a:ext cx="2060448" cy="1159002"/>
          </a:xfrm>
          <a:prstGeom prst="rect">
            <a:avLst/>
          </a:prstGeom>
        </p:spPr>
      </p:pic>
      <p:pic>
        <p:nvPicPr>
          <p:cNvPr id="20" name="Picture 1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E62892D-0409-A648-A42D-D377934C14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48" y="72509"/>
            <a:ext cx="2354858" cy="1156219"/>
          </a:xfrm>
          <a:prstGeom prst="rect">
            <a:avLst/>
          </a:prstGeom>
        </p:spPr>
      </p:pic>
      <p:pic>
        <p:nvPicPr>
          <p:cNvPr id="29" name="Picture 28" descr="A close up of a blackboard&#10;&#10;Description automatically generated">
            <a:extLst>
              <a:ext uri="{FF2B5EF4-FFF2-40B4-BE49-F238E27FC236}">
                <a16:creationId xmlns:a16="http://schemas.microsoft.com/office/drawing/2014/main" id="{89AB2B49-03CA-1242-60FE-62948B07490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58"/>
          <a:stretch/>
        </p:blipFill>
        <p:spPr>
          <a:xfrm>
            <a:off x="147974" y="2529000"/>
            <a:ext cx="3095107" cy="1800000"/>
          </a:xfrm>
          <a:prstGeom prst="rect">
            <a:avLst/>
          </a:prstGeom>
        </p:spPr>
      </p:pic>
      <p:pic>
        <p:nvPicPr>
          <p:cNvPr id="33" name="Picture 32" descr="A colorful circles connected to black lines&#10;&#10;Description automatically generated">
            <a:extLst>
              <a:ext uri="{FF2B5EF4-FFF2-40B4-BE49-F238E27FC236}">
                <a16:creationId xmlns:a16="http://schemas.microsoft.com/office/drawing/2014/main" id="{128FFA61-AE3E-69FC-8C87-7725AC5DF9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9592" y="2666253"/>
            <a:ext cx="1525494" cy="1525494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A4F31B-596F-0676-2256-7B9139B7555C}"/>
              </a:ext>
            </a:extLst>
          </p:cNvPr>
          <p:cNvCxnSpPr>
            <a:cxnSpLocks/>
          </p:cNvCxnSpPr>
          <p:nvPr/>
        </p:nvCxnSpPr>
        <p:spPr>
          <a:xfrm>
            <a:off x="3243081" y="3083619"/>
            <a:ext cx="2026511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99954D8-B767-9275-3744-6D5C77584783}"/>
              </a:ext>
            </a:extLst>
          </p:cNvPr>
          <p:cNvSpPr txBox="1"/>
          <p:nvPr/>
        </p:nvSpPr>
        <p:spPr>
          <a:xfrm>
            <a:off x="3243081" y="2666385"/>
            <a:ext cx="202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Physics-Guided ML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EB9CE35-4F7F-548A-0EAF-36671DD82693}"/>
              </a:ext>
            </a:extLst>
          </p:cNvPr>
          <p:cNvCxnSpPr>
            <a:cxnSpLocks/>
          </p:cNvCxnSpPr>
          <p:nvPr/>
        </p:nvCxnSpPr>
        <p:spPr>
          <a:xfrm flipH="1">
            <a:off x="3243081" y="3706554"/>
            <a:ext cx="2026511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0319D8-D4AB-653F-838B-23D0761BE44D}"/>
              </a:ext>
            </a:extLst>
          </p:cNvPr>
          <p:cNvSpPr txBox="1"/>
          <p:nvPr/>
        </p:nvSpPr>
        <p:spPr>
          <a:xfrm>
            <a:off x="3243080" y="3796699"/>
            <a:ext cx="229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Data-Driven Discovery</a:t>
            </a:r>
          </a:p>
        </p:txBody>
      </p:sp>
      <p:pic>
        <p:nvPicPr>
          <p:cNvPr id="11" name="Picture 10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F5A38F3-9321-FE6C-FE03-982F99D518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307" y="69726"/>
            <a:ext cx="1298565" cy="294341"/>
          </a:xfrm>
          <a:prstGeom prst="rect">
            <a:avLst/>
          </a:prstGeom>
        </p:spPr>
      </p:pic>
      <p:pic>
        <p:nvPicPr>
          <p:cNvPr id="23" name="Picture 22" descr="A logo of a molecule&#10;&#10;Description automatically generated with medium confidence">
            <a:extLst>
              <a:ext uri="{FF2B5EF4-FFF2-40B4-BE49-F238E27FC236}">
                <a16:creationId xmlns:a16="http://schemas.microsoft.com/office/drawing/2014/main" id="{14C141DC-936F-B76D-5787-C30D21C0A8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20" y="454915"/>
            <a:ext cx="677415" cy="677415"/>
          </a:xfrm>
          <a:prstGeom prst="rect">
            <a:avLst/>
          </a:prstGeom>
        </p:spPr>
      </p:pic>
      <p:pic>
        <p:nvPicPr>
          <p:cNvPr id="25" name="Picture 24" descr="A black and white background with white text&#10;&#10;Description automatically generated">
            <a:extLst>
              <a:ext uri="{FF2B5EF4-FFF2-40B4-BE49-F238E27FC236}">
                <a16:creationId xmlns:a16="http://schemas.microsoft.com/office/drawing/2014/main" id="{BC4064F1-BF6B-F2EA-A191-0A84EB722816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5" b="52018"/>
          <a:stretch/>
        </p:blipFill>
        <p:spPr>
          <a:xfrm>
            <a:off x="5307909" y="658374"/>
            <a:ext cx="677415" cy="27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2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5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CD3EA-E278-4AC1-877D-491964E9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686A01-FA10-4E06-92C7-92734750F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U Sans Serif"/>
              <a:ea typeface="+mn-ea"/>
              <a:cs typeface="+mn-cs"/>
            </a:endParaRPr>
          </a:p>
        </p:txBody>
      </p:sp>
      <p:pic>
        <p:nvPicPr>
          <p:cNvPr id="5" name="Picture 4" descr="A group of people standing in front of a whiteboard&#10;&#10;AI-generated content may be incorrect.">
            <a:extLst>
              <a:ext uri="{FF2B5EF4-FFF2-40B4-BE49-F238E27FC236}">
                <a16:creationId xmlns:a16="http://schemas.microsoft.com/office/drawing/2014/main" id="{41316E0D-76CA-974B-36EA-054A9A1A9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2" b="14111"/>
          <a:stretch>
            <a:fillRect/>
          </a:stretch>
        </p:blipFill>
        <p:spPr>
          <a:xfrm>
            <a:off x="0" y="1036320"/>
            <a:ext cx="12192000" cy="582168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511A7C-F19E-6611-FE33-8AF104C968D8}"/>
              </a:ext>
            </a:extLst>
          </p:cNvPr>
          <p:cNvCxnSpPr>
            <a:cxnSpLocks/>
          </p:cNvCxnSpPr>
          <p:nvPr/>
        </p:nvCxnSpPr>
        <p:spPr>
          <a:xfrm>
            <a:off x="944880" y="1676400"/>
            <a:ext cx="701040" cy="14325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079243-8DD5-F8B2-4222-39BDD535422C}"/>
              </a:ext>
            </a:extLst>
          </p:cNvPr>
          <p:cNvSpPr txBox="1"/>
          <p:nvPr/>
        </p:nvSpPr>
        <p:spPr>
          <a:xfrm>
            <a:off x="0" y="1036320"/>
            <a:ext cx="1844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Filippo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036DC-92B2-EA6E-6DF4-56D0955793B8}"/>
              </a:ext>
            </a:extLst>
          </p:cNvPr>
          <p:cNvSpPr txBox="1"/>
          <p:nvPr/>
        </p:nvSpPr>
        <p:spPr>
          <a:xfrm>
            <a:off x="2034176" y="1036320"/>
            <a:ext cx="3467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Fei (substitute)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C7AC3A-9788-6831-CFDD-8F0A4BF81C73}"/>
              </a:ext>
            </a:extLst>
          </p:cNvPr>
          <p:cNvCxnSpPr>
            <a:cxnSpLocks/>
          </p:cNvCxnSpPr>
          <p:nvPr/>
        </p:nvCxnSpPr>
        <p:spPr>
          <a:xfrm>
            <a:off x="3710940" y="1652766"/>
            <a:ext cx="1363980" cy="218771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5108AAB-9A5D-9FB7-A7FC-7E0C06FCEB38}"/>
              </a:ext>
            </a:extLst>
          </p:cNvPr>
          <p:cNvSpPr txBox="1"/>
          <p:nvPr/>
        </p:nvSpPr>
        <p:spPr>
          <a:xfrm>
            <a:off x="5593080" y="2038737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Shivanshi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713F50-40BD-9F2D-B5A5-AA27E9BCB86B}"/>
              </a:ext>
            </a:extLst>
          </p:cNvPr>
          <p:cNvCxnSpPr>
            <a:cxnSpLocks/>
          </p:cNvCxnSpPr>
          <p:nvPr/>
        </p:nvCxnSpPr>
        <p:spPr>
          <a:xfrm>
            <a:off x="6858000" y="2746623"/>
            <a:ext cx="609600" cy="109385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52EB57-2C68-0094-2E5B-A82D30692539}"/>
              </a:ext>
            </a:extLst>
          </p:cNvPr>
          <p:cNvSpPr txBox="1"/>
          <p:nvPr/>
        </p:nvSpPr>
        <p:spPr>
          <a:xfrm>
            <a:off x="7090956" y="1036320"/>
            <a:ext cx="481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MU Sans Serif"/>
                <a:ea typeface="+mn-ea"/>
                <a:cs typeface="+mn-cs"/>
              </a:rPr>
              <a:t>Frederick (substitute)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15DC1D-FD18-3251-F22E-0E0A886063C4}"/>
              </a:ext>
            </a:extLst>
          </p:cNvPr>
          <p:cNvCxnSpPr>
            <a:cxnSpLocks/>
          </p:cNvCxnSpPr>
          <p:nvPr/>
        </p:nvCxnSpPr>
        <p:spPr>
          <a:xfrm>
            <a:off x="9486900" y="1676400"/>
            <a:ext cx="678180" cy="12039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31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B706-0875-47AC-B633-9336EE8A4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 30-50: Tutorial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DB98C-A54C-4CC6-A6C9-28C26579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5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F075B87-D6F9-4B63-BE7F-0FA8F8E87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>
            <a:normAutofit/>
          </a:bodyPr>
          <a:lstStyle/>
          <a:p>
            <a:r>
              <a:rPr lang="en-US" dirty="0"/>
              <a:t>In Moodle, open “Session 1: Tutorial”</a:t>
            </a:r>
          </a:p>
        </p:txBody>
      </p:sp>
    </p:spTree>
    <p:extLst>
      <p:ext uri="{BB962C8B-B14F-4D97-AF65-F5344CB8AC3E}">
        <p14:creationId xmlns:p14="http://schemas.microsoft.com/office/powerpoint/2010/main" val="383509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E10A-3459-4F37-B2D1-3F864BD5C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379944"/>
            <a:ext cx="10363200" cy="1876018"/>
          </a:xfrm>
        </p:spPr>
        <p:txBody>
          <a:bodyPr/>
          <a:lstStyle/>
          <a:p>
            <a:r>
              <a:rPr lang="en-US" dirty="0"/>
              <a:t>Min 50-60: Now it’s time to </a:t>
            </a:r>
            <a:br>
              <a:rPr lang="en-US" dirty="0"/>
            </a:br>
            <a:r>
              <a:rPr lang="en-US" dirty="0"/>
              <a:t>tell us about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D82DC-BEE3-447B-A9C9-79E77D3E5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6252"/>
            <a:ext cx="12192000" cy="2401747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dirty="0"/>
              <a:t>Open “Session 1: Tell us about you” on Moodle</a:t>
            </a:r>
          </a:p>
          <a:p>
            <a:pPr marL="457200" indent="-457200">
              <a:buAutoNum type="arabicParenR"/>
            </a:pPr>
            <a:r>
              <a:rPr lang="en-US" dirty="0"/>
              <a:t>Don’t hesitate to ask for help regarding e.g., your GitHub account creation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D8F-8562-4A80-A9B3-5D34DC99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3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ree, outdoor, sky, lush&#10;&#10;Description automatically generated">
            <a:extLst>
              <a:ext uri="{FF2B5EF4-FFF2-40B4-BE49-F238E27FC236}">
                <a16:creationId xmlns:a16="http://schemas.microsoft.com/office/drawing/2014/main" id="{93BAAFDB-50B7-4E78-AD89-329B4A3ED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269" y="3614850"/>
            <a:ext cx="4837053" cy="3243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557CCE-FCA5-4EA9-84D7-D1726F573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 60-75: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B5D72-1FCE-4876-B2D9-9D757C5C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picture containing table, cup, sitting, indoor&#10;&#10;Description automatically generated">
            <a:extLst>
              <a:ext uri="{FF2B5EF4-FFF2-40B4-BE49-F238E27FC236}">
                <a16:creationId xmlns:a16="http://schemas.microsoft.com/office/drawing/2014/main" id="{7D264572-6C9E-4B6C-95B4-03276295BA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2" b="27556"/>
          <a:stretch/>
        </p:blipFill>
        <p:spPr>
          <a:xfrm>
            <a:off x="21351" y="3614850"/>
            <a:ext cx="3768329" cy="3243150"/>
          </a:xfrm>
          <a:prstGeom prst="rect">
            <a:avLst/>
          </a:prstGeom>
        </p:spPr>
      </p:pic>
      <p:pic>
        <p:nvPicPr>
          <p:cNvPr id="8" name="Picture 7" descr="A pile of green and red apples&#10;&#10;Description automatically generated with low confidence">
            <a:extLst>
              <a:ext uri="{FF2B5EF4-FFF2-40B4-BE49-F238E27FC236}">
                <a16:creationId xmlns:a16="http://schemas.microsoft.com/office/drawing/2014/main" id="{18CB289A-2A53-4076-A274-ECB92EF00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799" y="3614850"/>
            <a:ext cx="4324201" cy="324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9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B706-0875-47AC-B633-9336EE8A4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935037"/>
          </a:xfrm>
        </p:spPr>
        <p:txBody>
          <a:bodyPr>
            <a:noAutofit/>
          </a:bodyPr>
          <a:lstStyle/>
          <a:p>
            <a:r>
              <a:rPr lang="en-US" sz="4800" dirty="0"/>
              <a:t>Min 75-120: Exercises (GitHub tutorial available)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DB98C-A54C-4CC6-A6C9-28C26579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86A01-FA10-4E06-92C7-92734750F4C6}" type="slidenum">
              <a:rPr lang="en-US" smtClean="0"/>
              <a:t>8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F075B87-D6F9-4B63-BE7F-0FA8F8E87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57400"/>
            <a:ext cx="12192000" cy="48006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+mn-lt"/>
              </a:rPr>
              <a:t>1) In Moodle, open “Session 1: Exercises”</a:t>
            </a:r>
            <a:endParaRPr lang="en-US" sz="30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+mn-lt"/>
                <a:cs typeface="Times New Roman" panose="02020603050405020304" pitchFamily="18" charset="0"/>
              </a:rPr>
              <a:t>2) Have fun coding and don’t hesitate to look up the Python documentation. Please ask us if you have any question(s). We’re here to help 😊</a:t>
            </a:r>
          </a:p>
          <a:p>
            <a:r>
              <a:rPr lang="en-US" sz="3000" dirty="0">
                <a:latin typeface="+mn-lt"/>
                <a:cs typeface="Times New Roman" panose="02020603050405020304" pitchFamily="18" charset="0"/>
              </a:rPr>
              <a:t>3) Save your work regularly (“File” →”Save”)</a:t>
            </a:r>
          </a:p>
          <a:p>
            <a:r>
              <a:rPr lang="en-US" sz="3000" dirty="0">
                <a:latin typeface="+mn-lt"/>
                <a:cs typeface="Times New Roman" panose="02020603050405020304" pitchFamily="18" charset="0"/>
              </a:rPr>
              <a:t>4) At the end: “</a:t>
            </a:r>
            <a:r>
              <a:rPr lang="en-US" sz="3000" dirty="0" err="1">
                <a:latin typeface="+mn-lt"/>
                <a:cs typeface="Times New Roman" panose="02020603050405020304" pitchFamily="18" charset="0"/>
              </a:rPr>
              <a:t>File”→”Save</a:t>
            </a:r>
            <a:r>
              <a:rPr lang="en-US" sz="3000" dirty="0">
                <a:latin typeface="+mn-lt"/>
                <a:cs typeface="Times New Roman" panose="02020603050405020304" pitchFamily="18" charset="0"/>
              </a:rPr>
              <a:t> a copy in GitHub” to push the completed exercise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1B14C-A516-4D9A-BFA0-443F05F6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5054273"/>
            <a:ext cx="2880360" cy="1716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DAE028-DF85-4B97-992F-1FB3903194AC}"/>
              </a:ext>
            </a:extLst>
          </p:cNvPr>
          <p:cNvSpPr txBox="1"/>
          <p:nvPr/>
        </p:nvSpPr>
        <p:spPr>
          <a:xfrm>
            <a:off x="0" y="5295684"/>
            <a:ext cx="3852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Your fork of </a:t>
            </a:r>
            <a:r>
              <a:rPr lang="en-US" sz="3000" b="1" dirty="0"/>
              <a:t>latest</a:t>
            </a:r>
            <a:r>
              <a:rPr lang="en-US" sz="3000" dirty="0"/>
              <a:t> repo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C3880B-0F48-475B-89A1-A1D5C8889E15}"/>
              </a:ext>
            </a:extLst>
          </p:cNvPr>
          <p:cNvCxnSpPr/>
          <p:nvPr/>
        </p:nvCxnSpPr>
        <p:spPr>
          <a:xfrm>
            <a:off x="3669792" y="5582196"/>
            <a:ext cx="8168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5382CF-6E7C-47CB-B2A5-0DF2A60A6DE7}"/>
              </a:ext>
            </a:extLst>
          </p:cNvPr>
          <p:cNvCxnSpPr>
            <a:cxnSpLocks/>
          </p:cNvCxnSpPr>
          <p:nvPr/>
        </p:nvCxnSpPr>
        <p:spPr>
          <a:xfrm flipH="1">
            <a:off x="7542276" y="6016536"/>
            <a:ext cx="6554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5F5DBB-FF4F-44C7-B163-38F7FB269FD9}"/>
              </a:ext>
            </a:extLst>
          </p:cNvPr>
          <p:cNvSpPr txBox="1"/>
          <p:nvPr/>
        </p:nvSpPr>
        <p:spPr>
          <a:xfrm>
            <a:off x="8197702" y="5739537"/>
            <a:ext cx="39942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Exercises/W1_S1.ipynb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525EA4-AFC3-48F6-BF6B-EFDCDE75C57D}"/>
              </a:ext>
            </a:extLst>
          </p:cNvPr>
          <p:cNvCxnSpPr/>
          <p:nvPr/>
        </p:nvCxnSpPr>
        <p:spPr>
          <a:xfrm>
            <a:off x="3669792" y="6383182"/>
            <a:ext cx="8168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0C44BE-BFCB-4149-98D9-CFA090CB6380}"/>
              </a:ext>
            </a:extLst>
          </p:cNvPr>
          <p:cNvSpPr txBox="1"/>
          <p:nvPr/>
        </p:nvSpPr>
        <p:spPr>
          <a:xfrm>
            <a:off x="-69041" y="5867678"/>
            <a:ext cx="3994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Write commit message</a:t>
            </a:r>
          </a:p>
          <a:p>
            <a:pPr algn="l"/>
            <a:r>
              <a:rPr lang="en-US" sz="3000" dirty="0"/>
              <a:t>Keep box ticked for link</a:t>
            </a:r>
          </a:p>
        </p:txBody>
      </p:sp>
    </p:spTree>
    <p:extLst>
      <p:ext uri="{BB962C8B-B14F-4D97-AF65-F5344CB8AC3E}">
        <p14:creationId xmlns:p14="http://schemas.microsoft.com/office/powerpoint/2010/main" val="356337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MU Sans Serif Theme">
      <a:majorFont>
        <a:latin typeface="CMU Sans Serif"/>
        <a:ea typeface=""/>
        <a:cs typeface=""/>
      </a:majorFont>
      <a:minorFont>
        <a:latin typeface="CMU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D708DCDC-42F7-48A2-975C-30318494E14E}" vid="{5A564382-0E23-4DF5-80A1-3DF436ECACC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386</Words>
  <Application>Microsoft Office PowerPoint</Application>
  <PresentationFormat>Widescreen</PresentationFormat>
  <Paragraphs>49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CMU Sans Serif</vt:lpstr>
      <vt:lpstr>Office Theme</vt:lpstr>
      <vt:lpstr>1_Office Theme</vt:lpstr>
      <vt:lpstr>2_Office Theme</vt:lpstr>
      <vt:lpstr>Welcome to “Introduction to Scientific Programming with Python”!</vt:lpstr>
      <vt:lpstr>Min 15-30: Introductions, Moodle, and Syllabus</vt:lpstr>
      <vt:lpstr>PowerPoint Presentation</vt:lpstr>
      <vt:lpstr>PowerPoint Presentation</vt:lpstr>
      <vt:lpstr>Min 30-50: Tutorial</vt:lpstr>
      <vt:lpstr>Min 50-60: Now it’s time to  tell us about you!</vt:lpstr>
      <vt:lpstr>Min 60-75: Break</vt:lpstr>
      <vt:lpstr>Min 75-120: Exercises (GitHub tutorial available)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Beucler</dc:creator>
  <cp:lastModifiedBy>Tom Beucler</cp:lastModifiedBy>
  <cp:revision>98</cp:revision>
  <dcterms:created xsi:type="dcterms:W3CDTF">2022-02-23T18:29:24Z</dcterms:created>
  <dcterms:modified xsi:type="dcterms:W3CDTF">2026-09-22T18:30:13Z</dcterms:modified>
</cp:coreProperties>
</file>